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C39A"/>
                </a:solidFill>
              </a:rPr>
              <a:t>MSC HEALTH DATA SCIENCE  ·  CLINICAL PREDICTION MODELLING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Prediction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ICU In-Hospital Mortality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D1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MIMIC-III Clinical Database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914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99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CE8"/>
                </a:solidFill>
              </a:rPr>
              <a:t>Dataset: </a:t>
            </a:r>
            <a:pPr indent="0" marL="0">
              <a:buNone/>
            </a:pPr>
            <a:r>
              <a:rPr lang="en-US" sz="1100" dirty="0">
                <a:solidFill>
                  <a:srgbClr val="D1DCE8"/>
                </a:solidFill>
              </a:rPr>
              <a:t>MIMIC-III Demo  ·  </a:t>
            </a:r>
            <a:pPr indent="0" marL="0">
              <a:buNone/>
            </a:pPr>
            <a:r>
              <a:rPr lang="en-US" sz="1100" b="1" dirty="0">
                <a:solidFill>
                  <a:srgbClr val="D1DCE8"/>
                </a:solidFill>
              </a:rPr>
              <a:t>Model: </a:t>
            </a:r>
            <a:pPr indent="0" marL="0">
              <a:buNone/>
            </a:pPr>
            <a:r>
              <a:rPr lang="en-US" sz="1100" dirty="0">
                <a:solidFill>
                  <a:srgbClr val="D1DCE8"/>
                </a:solidFill>
              </a:rPr>
              <a:t>Logistic Regression  ·  </a:t>
            </a:r>
            <a:pPr indent="0" marL="0">
              <a:buNone/>
            </a:pPr>
            <a:r>
              <a:rPr lang="en-US" sz="1100" b="1" dirty="0">
                <a:solidFill>
                  <a:srgbClr val="D1DCE8"/>
                </a:solidFill>
              </a:rPr>
              <a:t>Outcome: </a:t>
            </a:r>
            <a:pPr indent="0" marL="0">
              <a:buNone/>
            </a:pPr>
            <a:r>
              <a:rPr lang="en-US" sz="1100" dirty="0">
                <a:solidFill>
                  <a:srgbClr val="D1DCE8"/>
                </a:solidFill>
              </a:rPr>
              <a:t>hospital_expire_flag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D78"/>
                </a:solidFill>
              </a:rPr>
              <a:t>Johnson A, Pollard T, Mark R. MIMIC-III Clinical Database Demo (v1.4). PhysioNet. 2019.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28090"/>
                </a:solidFill>
              </a:rPr>
              <a:t>CRITERION 1  ·  STUDY POPULATION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Was This Model Built On?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2004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40690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64008" cy="3520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Population Characteristics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Source: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21408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MIMIC-III Clinical Database Demo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Setting: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21408" y="2331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ICU Admissions (admissions.csv)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8163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Total Records: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21408" y="2816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129 admissions; 113 after listwise deletion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3009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Time Period: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21408" y="33009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Deidentified records (shifted dates, single centre)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7856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Exclusions: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37856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16 patients with missing marital_status removed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270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Train / Test: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21408" y="4270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90 training / 23 testing (80/20 stratified split)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3931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61872"/>
            <a:ext cx="64008" cy="35204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Validity &amp; Generalisability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1947672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Valid for: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56048" y="2167128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Adult ICU patients at a single academic centre admitted via emergency, elective, or urgent pathways.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2697480"/>
            <a:ext cx="164592" cy="16459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Not valid for: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56048" y="2916936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Paediatric patients, community hospitals, or non-ICU wards. The demo dataset is a small, unrepresentative sample of MIMIC.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56048" y="3447288"/>
            <a:ext cx="164592" cy="16459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3374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Small sample risk: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56048" y="3666744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Only 113 usable records limits statistical power — results may not replicate on independent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4197096"/>
            <a:ext cx="164592" cy="16459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D78"/>
                </a:solidFill>
              </a:rPr>
              <a:t>Mortality rate: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4416552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27% in this sample; real-world ICU mortality is typically 10–20%, which would further worsen class imbalance.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28090"/>
                </a:solidFill>
              </a:rPr>
              <a:t>CRITERION 2  ·  CLINICAL VARIABLES &amp; TIMING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 Variables: Selection, Timing &amp; Rationale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2004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Variable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3533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80360" y="1353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Handling of Values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1353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Clinical Rationale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9222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admission_type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792224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Categorical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(3 levels: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Emergency,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Elective, Urgent)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1792224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At admission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(point-in-time)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17922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Single value per admission.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No repeated measures.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179222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Captures urgency of presentation — Emergency admissions had highest mortality in this dataset (92% of records).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8229600" cy="713232"/>
          </a:xfrm>
          <a:prstGeom prst="rect">
            <a:avLst/>
          </a:prstGeom>
          <a:solidFill>
            <a:srgbClr val="F4F7FA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420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insurance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54203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Categorical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(4 levels: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Medicare, Private,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Medicaid, Govt)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5420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At admission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(point-in-time)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0" y="25420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Single value per admission.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No repeated measures.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5420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Socioeconomic proxy. Medicare dominated (76% of records), reflecting the elderly/disabled ICU population typical of academic centres.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36976"/>
            <a:ext cx="822960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918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marital_status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29184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Categorical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(6 levels: Married,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Single, Widowed,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Divorced, etc.)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80360" y="32918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At admission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(point-in-time)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3291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Single value; 16 NAs dropped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via listwise deletion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(no imputation).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2918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Proxy for social support — potentially linked to recovery. However, weak clinical predictor on its own for mortality.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F4F7FA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4164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has_chartevents_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404164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Binary flag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(0 = no chart data,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1 = chart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captured)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80360" y="404164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Entire ICU stay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(retrospective)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0" y="40416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Single binary value.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99% of patients =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near-zero variance.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404164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6"/>
                </a:solidFill>
              </a:rPr>
              <a:t>Intended as proxy for monitoring intensity. In practice, too uniform to contribute meaningful discriminative power.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5C3A"/>
                </a:solidFill>
              </a:rPr>
              <a:t>Note: All predictors are captured at or before admission — there is no prospective real-time measurement. This limits clinical utility at the bedside.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28090"/>
                </a:solidFill>
              </a:rPr>
              <a:t>CRITERION 3  ·  ANALYTIC METHODOLOGY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Development: Methods &amp; Validation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2004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40690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64008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Logistic Regression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05740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Logistic Regression (sklearn)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Solver: lbfgs (default)  |  Regularisation: L2, C=1.0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386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Encoding: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OrdinalEncoder applied to admission_type, insurance, marital_status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has_chartevents_data passed through as numeric (passthrough)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962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Pipeline: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20954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sklearn Pipeline: ColumnTransformer (preprocessing) → LogisticRegression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3538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Missing Data: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78561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Listwise deletion only — 16 rows with missing marital_status removed; no imputation was applied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4114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Class Imbalance: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436168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No balancing strategy applied (no SMOTE, no class_weight)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Baseline model on raw 73% / 27% class split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3931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61872"/>
            <a:ext cx="64008" cy="3520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Validation Strategy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Method: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Holdout train/test split (no k-fold cross-validation)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56048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Split Ratio: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80% train (n=90)  /  20% test (n=23)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56048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Stratification: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816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stratify=y ensures class proportions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are preserved in both train and test sets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3300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Random Seed: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3009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random_state=0 for full reproducibility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6048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Metrics Used: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78561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Accuracy, Precision, Recall, F1, ROC-AUC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56048" y="4270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D78"/>
                </a:solidFill>
              </a:rPr>
              <a:t>Limitation: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42702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Single split on tiny n=113 → results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highly sensitive to the specific split;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cross-validation recommended for future work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28090"/>
                </a:solidFill>
              </a:rPr>
              <a:t>RESULTS  ·  MODEL PERFORMANCE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Regression: Performance Metrics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2004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69.6%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Driven by predicting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the majority class only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21408" y="1298448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67128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3A"/>
                </a:solidFill>
              </a:rPr>
              <a:t>0.0%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67128" y="20574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67128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No predicted positives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were correct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85616" y="1298448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3A"/>
                </a:solidFill>
              </a:rPr>
              <a:t>0.0%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31336" y="20574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Recall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31336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0 of 6 actual deaths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were detected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1298448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3A"/>
                </a:solidFill>
              </a:rPr>
              <a:t>0.0%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95544" y="20574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F1 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95544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Harmonic mean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of P &amp; R = 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14032" y="1298448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9752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3A"/>
                </a:solidFill>
              </a:rPr>
              <a:t>0.471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59752" y="20574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ROC-AUC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59752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Below 0.5: worse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B5D78"/>
                </a:solidFill>
              </a:rPr>
              <a:t>than random chance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999232"/>
            <a:ext cx="38404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999232"/>
            <a:ext cx="64008" cy="187452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Confusion Matrix  (Test Set, n=23)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419856"/>
          <a:ext cx="3520440" cy="1325880"/>
        </p:xfrm>
        <a:graphic>
          <a:graphicData uri="http://schemas.openxmlformats.org/drawingml/2006/table">
            <a:tbl>
              <a:tblPr/>
              <a:tblGrid>
                <a:gridCol w="1173480"/>
                <a:gridCol w="1173480"/>
                <a:gridCol w="1173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Pred: Survived (0)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Pred: Died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</a:rPr>
                        <a:t>Actual: Survived (0)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</a:rPr>
                        <a:t>16  ✓ TN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</a:rPr>
                        <a:t>1  FP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</a:rPr>
                        <a:t>Actual: Died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</a:rPr>
                        <a:t>6  ✗ FN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</a:rPr>
                        <a:t>0  TP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480560" y="2999232"/>
            <a:ext cx="42062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80560" y="2999232"/>
            <a:ext cx="64008" cy="1874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Interpreting the Results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63440" y="3419856"/>
            <a:ext cx="3913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The model predicted virtually all patients as survivors and identified none of the 6 actual deaths in the test set.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Why? Without class balancing on a 73/27 split, logistic regression defaults to always predicting the majority class. This inflates accuracy to 69.6% while producing Recall = 0 — clinically, the model is useless for identifying patients at risk of death.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F56"/>
                </a:solidFill>
              </a:rPr>
              <a:t>ROC-AUC of 0.471 confirms performance is below random chance.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28090"/>
                </a:solidFill>
              </a:rPr>
              <a:t>CRITERION 4  ·  MODEL TYPE, USER &amp; CLINICAL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 of Model Is This — and Who Would Use It?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2004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7249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724912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1673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Classification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25054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This is an Operational / Administrative prediction model.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It relies entirely on administrative variables captured at registration — not on clinical measurements such as vital signs, lab results, or severity scores.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It is better understood as an early-warning screen based on administrative data than a true clinical prediction model, which would typically incorporate physiological signals.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7249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272491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31673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Intended User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47288" y="1828800"/>
            <a:ext cx="25054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Primary users would be hospital administrators, charge nurses, or case managers — not frontline clinicians at the bedside.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A physician would expect predictors grounded in physiology (e.g., SOFA score, GCS, lactate). The current feature set alone is too weak to guide individual clinical decisions or treatment plans.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249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2724912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31673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Potential Clinical 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1828800"/>
            <a:ext cx="25054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In its current form the model is not ready for clinical deployment (Recall = 0).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If substantially improved, the model could: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• Flag high-risk admissions for early palliative care discussion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• Trigger resource allocation (HDU staffing, bed capacity)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F56"/>
                </a:solidFill>
              </a:rPr>
              <a:t>• Support hospital mortality audit and capacity planning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28090"/>
                </a:solidFill>
              </a:rPr>
              <a:t>CRITERION 5  ·  IMPLEMENTATION IN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Could This Model Be Deployed in Practice?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2004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1572768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572768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35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138988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All four predictors (admission_type, insurance, marital_status, has_chartevents_data) are captured routinely at registration in any EHR. No additional data collection is required.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30552" y="1298448"/>
            <a:ext cx="1572768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0552" y="1298448"/>
            <a:ext cx="15727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1335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87752" y="135331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Pre-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processing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21992" y="1865376"/>
            <a:ext cx="138988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The sklearn Pipeline (OrdinalEncoder + ColumnTransformer) can be serialised with pickle and called at admission time, adding negligible latency.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03904" y="1298448"/>
            <a:ext cx="1572768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03904" y="1298448"/>
            <a:ext cx="15727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335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61104" y="135331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EHR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95344" y="1865376"/>
            <a:ext cx="138988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Because no real-time lab values are needed, this model could run inside the EHR via a Clinical Decision Support (CDS) rule engine or CDS Hooks / SMART on FHIR framework.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77256" y="1298448"/>
            <a:ext cx="1572768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298448"/>
            <a:ext cx="157276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1335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34456" y="135331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Alert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68696" y="1865376"/>
            <a:ext cx="138988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A risk score or binary flag displayed in the patient chart at registration, optionally triggering an alert to the ward team, case manager, or palliative care service.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50608" y="1298448"/>
            <a:ext cx="1572768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1298448"/>
            <a:ext cx="1572768" cy="50292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335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07808" y="135331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Barriers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42048" y="1865376"/>
            <a:ext cx="138988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F56"/>
                </a:solidFill>
              </a:rPr>
              <a:t>In its present form the model cannot be deployed — it detects 0 deaths (Recall = 0). Retraining with more data, clinical predictors, and class balancing is needed first.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D1DCE8">
              <a:alpha val="60000"/>
            </a:srgbClr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554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D78"/>
                </a:solidFill>
              </a:rPr>
              <a:t>Future pathway: Expand training data → Add clinical features (vitals, labs, SOFA) → Apply SMOTE / class_weight balancing → k-fold cross-validate → EHR integration via CDS Hooks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2C39A"/>
                </a:solidFill>
              </a:rPr>
              <a:t>LIMITATIONS &amp; 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Reflections &amp; 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Model Limitations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146304" cy="14630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28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CE8"/>
                </a:solidFill>
              </a:rPr>
              <a:t>Tiny sample (n=113 after cleaning) — not generalisable to broader ICU populations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46304" cy="14630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258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CE8"/>
                </a:solidFill>
              </a:rPr>
              <a:t>No class balancing → model only predicts majority class; Recall = 0 for mortality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146304" cy="14630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883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CE8"/>
                </a:solidFill>
              </a:rPr>
              <a:t>Predictors are administrative, not clinical — very weak signal for physiological outcome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46304" cy="14630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1181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CE8"/>
                </a:solidFill>
              </a:rPr>
              <a:t>Single train/test split (no cross-validation) — results are sensitive to this specific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146304" cy="14630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547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CE8"/>
                </a:solidFill>
              </a:rPr>
              <a:t>has_chartevents_data is near-constant (99% = 1) — contributes negligible discriminative power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46304" cy="14630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977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CE8"/>
                </a:solidFill>
              </a:rPr>
              <a:t>Listwise deletion of 16 rows may introduce selection bias if data are not missing at random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261872"/>
            <a:ext cx="2423160" cy="3566160"/>
          </a:xfrm>
          <a:prstGeom prst="rect">
            <a:avLst/>
          </a:prstGeom>
          <a:solidFill>
            <a:srgbClr val="2D3F56"/>
          </a:solidFill>
          <a:ln w="12700">
            <a:solidFill>
              <a:srgbClr val="2D3F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389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In Summary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773936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This project demonstrates a complete end-to-end clinical prediction pipeline — from exploratory analysis through model evaluation.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The honest interpretation of failure (AUC &lt; 0.5, Recall = 0) is itself a meaningful scientific result. It clearly identifies what must be improved: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→ More training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→ True clinical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   (vitals, labs, SOFA score)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→ Class imbalance correction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   (SMOTE or class_weight)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→ Robust cross-validation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CE8"/>
                </a:solidFill>
              </a:rPr>
              <a:t>→ Prospective variable timing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B5D78"/>
                </a:solidFill>
              </a:rPr>
              <a:t>Citation: Johnson A, Pollard T, Mark R. MIMIC-III Clinical Database Demo (v1.4). PhysioNet. 2019. doi:10.13026/C2HM2Q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Prediction Model – ICU Mortality</dc:title>
  <dc:subject>PptxGenJS Presentation</dc:subject>
  <dc:creator>PptxGenJS</dc:creator>
  <cp:lastModifiedBy>PptxGenJS</cp:lastModifiedBy>
  <cp:revision>1</cp:revision>
  <dcterms:created xsi:type="dcterms:W3CDTF">2026-03-21T04:19:40Z</dcterms:created>
  <dcterms:modified xsi:type="dcterms:W3CDTF">2026-03-21T04:19:40Z</dcterms:modified>
</cp:coreProperties>
</file>